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presProps" Target="presProps.xml" /><Relationship Id="rId10" Type="http://schemas.openxmlformats.org/officeDocument/2006/relationships/slide" Target="slides/slide9.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customschemas.google.com/relationships/presentationmetadata" Target="metadata"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1819843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err="1"/>
                        <a:t>Samruddhi</a:t>
                      </a:r>
                      <a:r>
                        <a:rPr lang="en-IN" dirty="0"/>
                        <a:t> </a:t>
                      </a:r>
                      <a:r>
                        <a:rPr lang="en-IN" dirty="0" err="1"/>
                        <a:t>Bhale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samruddhibhale@gmail.com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9834570232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377280" y="1634471"/>
            <a:ext cx="10280254" cy="400110"/>
          </a:xfrm>
          <a:prstGeom prst="rect">
            <a:avLst/>
          </a:prstGeom>
          <a:noFill/>
        </p:spPr>
        <p:txBody>
          <a:bodyPr wrap="square" rtlCol="0">
            <a:spAutoFit/>
          </a:bodyPr>
          <a:lstStyle/>
          <a:p>
            <a:r>
              <a:rPr lang="en-US" sz="2000" b="1" dirty="0"/>
              <a:t>Domain of  Project –</a:t>
            </a:r>
            <a:r>
              <a:rPr lang="en-IN" sz="2000" b="1" dirty="0"/>
              <a:t> Electronic and Telecommunications </a:t>
            </a:r>
            <a:endParaRPr lang="en-IN" sz="20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66794" y="728241"/>
            <a:ext cx="9581177" cy="1384995"/>
          </a:xfrm>
          <a:prstGeom prst="rect">
            <a:avLst/>
          </a:prstGeom>
          <a:noFill/>
        </p:spPr>
        <p:txBody>
          <a:bodyPr wrap="square" rtlCol="0">
            <a:spAutoFit/>
          </a:bodyPr>
          <a:lstStyle/>
          <a:p>
            <a:r>
              <a:rPr lang="en-US" sz="2800" b="1" dirty="0"/>
              <a:t>Project Tile –</a:t>
            </a:r>
            <a:r>
              <a:rPr lang="en-IN" sz="2800" b="1" dirty="0"/>
              <a:t> Audio Signal Processing Assistant Agent</a:t>
            </a:r>
          </a:p>
          <a:p>
            <a:r>
              <a:rPr lang="en-IN" sz="2800" b="1" dirty="0"/>
              <a:t>
</a:t>
            </a:r>
            <a:endParaRPr lang="en-IN" sz="2800" b="1" dirty="0">
              <a:highlight>
                <a:srgbClr val="FFFF00"/>
              </a:highlight>
            </a:endParaRPr>
          </a:p>
        </p:txBody>
      </p:sp>
      <p:pic>
        <p:nvPicPr>
          <p:cNvPr id="2" name="Picture 1">
            <a:extLst>
              <a:ext uri="{FF2B5EF4-FFF2-40B4-BE49-F238E27FC236}">
                <a16:creationId xmlns:a16="http://schemas.microsoft.com/office/drawing/2014/main" id="{0C137086-19CE-BFEE-570C-858BE0086920}"/>
              </a:ext>
            </a:extLst>
          </p:cNvPr>
          <p:cNvPicPr>
            <a:picLocks noChangeAspect="1"/>
          </p:cNvPicPr>
          <p:nvPr/>
        </p:nvPicPr>
        <p:blipFill>
          <a:blip r:embed="rId3"/>
          <a:stretch>
            <a:fillRect/>
          </a:stretch>
        </p:blipFill>
        <p:spPr>
          <a:xfrm>
            <a:off x="4094608" y="3580214"/>
            <a:ext cx="871714" cy="1044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227309"/>
            <a:ext cx="11519675" cy="5355312"/>
          </a:xfrm>
          <a:prstGeom prst="rect">
            <a:avLst/>
          </a:prstGeom>
          <a:noFill/>
        </p:spPr>
        <p:txBody>
          <a:bodyPr wrap="square" rtlCol="0">
            <a:spAutoFit/>
          </a:bodyPr>
          <a:lstStyle/>
          <a:p>
            <a:pPr fontAlgn="base"/>
            <a:r>
              <a:rPr lang="en-US" sz="1800" b="1" dirty="0"/>
              <a:t>Problem Statement : </a:t>
            </a:r>
            <a:r>
              <a:rPr lang="en-IN" sz="1800" b="1" dirty="0"/>
              <a:t>Audio Signal Processing Assistant Agent</a:t>
            </a:r>
          </a:p>
          <a:p>
            <a:pPr fontAlgn="base"/>
            <a:endParaRPr lang="en-US" sz="1800" b="1" dirty="0"/>
          </a:p>
          <a:p>
            <a:pPr fontAlgn="base"/>
            <a:r>
              <a:rPr lang="en-IN" sz="1800" b="1" dirty="0"/>
              <a:t>The Challenge</a:t>
            </a:r>
            <a:r>
              <a:rPr lang="en-IN" sz="1800" dirty="0"/>
              <a:t>
Audio signal processing circuits such as amplifiers, filters, and preamplifiers are widely used in communication systems and consumer electronics. Students and engineers often face problems like noise, distortion, grounding issues, and incorrect filter configurations. Finding the correct solution from different technical resources is difficult and time-consuming</a:t>
            </a:r>
          </a:p>
          <a:p>
            <a:pPr fontAlgn="base"/>
            <a:r>
              <a:rPr lang="en-IN" sz="1800" dirty="0"/>
              <a:t> 
</a:t>
            </a:r>
            <a:r>
              <a:rPr lang="en-IN" sz="1800" b="1" dirty="0"/>
              <a:t>The Objective</a:t>
            </a:r>
          </a:p>
          <a:p>
            <a:pPr marL="342900" indent="-342900" fontAlgn="base">
              <a:buFont typeface="+mj-lt"/>
              <a:buAutoNum type="arabicPeriod"/>
            </a:pPr>
            <a:r>
              <a:rPr lang="en-IN" sz="1800" dirty="0"/>
              <a:t>Build an AI-powered Audio Signal Processing Assistant Agent that helps users understand, troubleshoot, and improve audio signal processing circuits. The solution should:
Intelligent Query Understanding – Understand user questions related to audio circuits and signal processing.
Troubleshooting Support – Identify issues like noise, distortion, grounding problems, and provide step-by-step solutions.
Circuit Design Recommendations – Suggest improvements for amplifiers, filters, and signal conditioning circuits.
Knowledge Retrieval (RAG) – Retrieve relevant information from electronics and signal processing documents to provide accurate answers.</a:t>
            </a:r>
            <a:endParaRPr lang="en-US" sz="1800" dirty="0"/>
          </a:p>
          <a:p>
            <a:endParaRPr lang="en-IN" sz="18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a:t>Problem Statement -</a:t>
            </a:r>
            <a:endParaRPr lang="en-IN" sz="28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124333" cy="5693866"/>
          </a:xfrm>
          <a:prstGeom prst="rect">
            <a:avLst/>
          </a:prstGeom>
          <a:noFill/>
        </p:spPr>
        <p:txBody>
          <a:bodyPr wrap="square" rtlCol="0">
            <a:spAutoFit/>
          </a:bodyPr>
          <a:lstStyle/>
          <a:p>
            <a:r>
              <a:rPr lang="en-IN" dirty="0"/>
              <a:t>Proposed Solution: AI-Powered Audio Signal Processing Assistant Agent
The proposed solution is an AI-powered Audio Signal Processing Assistant Agent developed using IBM </a:t>
            </a:r>
            <a:r>
              <a:rPr lang="en-IN" dirty="0" err="1"/>
              <a:t>LangFlow</a:t>
            </a:r>
            <a:r>
              <a:rPr lang="en-IN" dirty="0"/>
              <a:t>, IBM </a:t>
            </a:r>
            <a:r>
              <a:rPr lang="en-IN" dirty="0" err="1"/>
              <a:t>watsonx.ai</a:t>
            </a:r>
            <a:r>
              <a:rPr lang="en-IN" dirty="0"/>
              <a:t>, and Granite Models. It helps students and engineers understand audio signal processing concepts, troubleshoot circuit issues, and improve circuit performance through an intelligent conversational interface.
The system uses a Retrieval-Augmented Generation (RAG) pipeline to retrieve accurate information from electronics textbooks, technical manuals, and signal processing documents. This enables the assistant to provide reliable explanations and recommendations.
The system consists of four key modules:
</a:t>
            </a:r>
            <a:r>
              <a:rPr lang="en-IN" b="1" dirty="0"/>
              <a:t>Intelligent Query Understanding Agent </a:t>
            </a:r>
            <a:r>
              <a:rPr lang="en-IN" dirty="0"/>
              <a:t>– Understands user questions related to audio circuits, amplifiers, filters, and signal processing concepts.
</a:t>
            </a:r>
            <a:r>
              <a:rPr lang="en-IN" b="1" dirty="0"/>
              <a:t>Troubleshooting Support Agent </a:t>
            </a:r>
            <a:r>
              <a:rPr lang="en-IN" dirty="0"/>
              <a:t>– Detects common issues such as noise, distortion, grounding problems, and signal attenuation, then provides step-by-step debugging guidance.
</a:t>
            </a:r>
            <a:r>
              <a:rPr lang="en-IN" b="1" dirty="0"/>
              <a:t>Circuit Design Recommendation Agent</a:t>
            </a:r>
            <a:r>
              <a:rPr lang="en-IN" dirty="0"/>
              <a:t> – Suggests improvements for amplifiers, filters, and signal conditioning circuits to achieve better performance.
</a:t>
            </a:r>
            <a:r>
              <a:rPr lang="en-IN" b="1" dirty="0"/>
              <a:t>Knowledge Retrieval Agent</a:t>
            </a:r>
            <a:r>
              <a:rPr lang="en-IN" dirty="0"/>
              <a:t> – Retrieves relevant technical information from electronics and signal processing documents using the RAG approach to support accurate responses.
The solution also includes a user-friendly dashboard (built using </a:t>
            </a:r>
            <a:r>
              <a:rPr lang="en-IN" dirty="0" err="1"/>
              <a:t>Streamlit</a:t>
            </a:r>
            <a:r>
              <a:rPr lang="en-IN" dirty="0"/>
              <a:t> or React) where users can ask questions, view troubleshooting steps, and access design recommendations in an easy-to-understand format.
IBM </a:t>
            </a:r>
            <a:r>
              <a:rPr lang="en-IN" dirty="0" err="1"/>
              <a:t>LangFlow</a:t>
            </a:r>
            <a:r>
              <a:rPr lang="en-IN" dirty="0"/>
              <a:t> is used to create the AI workflow, </a:t>
            </a:r>
            <a:r>
              <a:rPr lang="en-IN" dirty="0" err="1"/>
              <a:t>watsonx.ai</a:t>
            </a:r>
            <a:r>
              <a:rPr lang="en-IN" dirty="0"/>
              <a:t> provides the AI models and </a:t>
            </a:r>
            <a:r>
              <a:rPr lang="en-IN" dirty="0" err="1"/>
              <a:t>embeddings</a:t>
            </a:r>
            <a:r>
              <a:rPr lang="en-IN" dirty="0"/>
              <a:t>, and Granite Models generate accurate explanations and recommendations.
Overall, this solution serves as an intelligent learning and troubleshooting assistant, helping users solve audio circuit problems faster and improve their understanding of audio signal processing.</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348800"/>
            <a:ext cx="10030861" cy="495520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dirty="0" err="1"/>
              <a:t>LangFlow</a:t>
            </a:r>
            <a:r>
              <a:rPr lang="en-IN" sz="1800" dirty="0"/>
              <a:t> Platform – Used to design and orchestrate the AI workflow visually, connecting multiple AI agents for audio signal processing tasks.
IBM Granite Model (e.g., ibm-granite-3-2-8b) – Used for natural language understanding, answering user queries, troubleshooting audio circuits, and explaining signal processing concepts.
IBM Cloud – Provides a secure, reliable, and scalable platform for deploying and managing the Audio Signal Processing Assistant.
RAG (Retrieval-Augmented Generation) – Retrieves relevant information from electronics books, audio signal processing documents, and technical manuals before generating accurate AI responses.
IBM </a:t>
            </a:r>
            <a:r>
              <a:rPr lang="en-IN" sz="1800" dirty="0" err="1"/>
              <a:t>watsonx.ai</a:t>
            </a:r>
            <a:r>
              <a:rPr lang="en-IN" sz="1800" dirty="0"/>
              <a:t> – Used for AI model deployment, </a:t>
            </a:r>
            <a:r>
              <a:rPr lang="en-IN" sz="1800" dirty="0" err="1"/>
              <a:t>embeddings</a:t>
            </a:r>
            <a:r>
              <a:rPr lang="en-IN" sz="1800" dirty="0"/>
              <a:t>, prompt engineering, and AI governance.
Vector Database (FAISS/Chroma) – Stores and retrieves electronics and audio signal processing knowledge efficiently for RAG-based responses.</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909310"/>
          </a:xfrm>
          <a:prstGeom prst="rect">
            <a:avLst/>
          </a:prstGeom>
          <a:noFill/>
        </p:spPr>
        <p:txBody>
          <a:bodyPr wrap="square" rtlCol="0">
            <a:spAutoFit/>
          </a:bodyPr>
          <a:lstStyle/>
          <a:p>
            <a:r>
              <a:rPr lang="en-IN" dirty="0"/>
              <a:t>
1) Chat Input – Interface where users enter their queries related to audio signal processing, circuit design, or troubleshooting (text/voice).
2) IBM </a:t>
            </a:r>
            <a:r>
              <a:rPr lang="en-IN" dirty="0" err="1"/>
              <a:t>watsonx</a:t>
            </a:r>
            <a:r>
              <a:rPr lang="en-IN" dirty="0"/>
              <a:t> AI Agent – Processes user queries using IBM Granite Models and generates intelligent responses for audio signal processing concepts and circuit issues.
3) Name of IBM Granite Model – Granite-3.2-8B-Instruct – Used for explaining concepts, troubleshooting audio circuits, and providing design recommendations.
4) Chat Output – Displays AI-generated responses such as troubleshooting steps, circuit explanations, design suggestions, and signal processing guidance.
5) File Component – Stores and retrieves electronics documents, audio signal processing notes, technical manuals, and circuit references for RAG-based knowledge retrieval.
6) Prompt Template Component – Creates structured prompts to ensure the AI provides accurate, relevant, and consistent answers for audio signal processing queries.</a:t>
            </a: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10" name="Picture 9">
            <a:extLst>
              <a:ext uri="{FF2B5EF4-FFF2-40B4-BE49-F238E27FC236}">
                <a16:creationId xmlns:a16="http://schemas.microsoft.com/office/drawing/2014/main" id="{6D4DFFD1-C8D9-A246-D200-85CADE822034}"/>
              </a:ext>
            </a:extLst>
          </p:cNvPr>
          <p:cNvPicPr>
            <a:picLocks noChangeAspect="1"/>
          </p:cNvPicPr>
          <p:nvPr/>
        </p:nvPicPr>
        <p:blipFill>
          <a:blip r:embed="rId3"/>
          <a:stretch>
            <a:fillRect/>
          </a:stretch>
        </p:blipFill>
        <p:spPr>
          <a:xfrm>
            <a:off x="941137" y="1455635"/>
            <a:ext cx="8128000" cy="446007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4" name="Picture 3">
            <a:extLst>
              <a:ext uri="{FF2B5EF4-FFF2-40B4-BE49-F238E27FC236}">
                <a16:creationId xmlns:a16="http://schemas.microsoft.com/office/drawing/2014/main" id="{A9BE786F-A68B-0DC5-3BC4-FC088416D46D}"/>
              </a:ext>
            </a:extLst>
          </p:cNvPr>
          <p:cNvPicPr>
            <a:picLocks noChangeAspect="1"/>
          </p:cNvPicPr>
          <p:nvPr/>
        </p:nvPicPr>
        <p:blipFill>
          <a:blip r:embed="rId3"/>
          <a:stretch>
            <a:fillRect/>
          </a:stretch>
        </p:blipFill>
        <p:spPr>
          <a:xfrm>
            <a:off x="1786021" y="858698"/>
            <a:ext cx="8128000" cy="54186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IN" dirty="0"/>
              <a:t>
Role of </a:t>
            </a:r>
            <a:r>
              <a:rPr lang="en-IN" dirty="0" err="1"/>
              <a:t>Agentic</a:t>
            </a:r>
            <a:r>
              <a:rPr lang="en-IN" dirty="0"/>
              <a:t> AI in Audio Signal Processing Assistant Agent
</a:t>
            </a:r>
            <a:r>
              <a:rPr lang="en-IN" dirty="0" err="1"/>
              <a:t>Agentic</a:t>
            </a:r>
            <a:r>
              <a:rPr lang="en-IN" dirty="0"/>
              <a:t> AI enables the Audio Signal Processing Assistant Agent to function as an intelligent, autonomous system rather than a simple </a:t>
            </a:r>
            <a:r>
              <a:rPr lang="en-IN" dirty="0" err="1"/>
              <a:t>chatbot</a:t>
            </a:r>
            <a:r>
              <a:rPr lang="en-IN" dirty="0"/>
              <a:t>. Using IBM </a:t>
            </a:r>
            <a:r>
              <a:rPr lang="en-IN" dirty="0" err="1"/>
              <a:t>watsonx.ai</a:t>
            </a:r>
            <a:r>
              <a:rPr lang="en-IN" dirty="0"/>
              <a:t> and IBM Granite Models, it understands user queries, retrieves relevant technical information, and provides accurate troubleshooting guidance.
Each AI agent performs a specific task, such as understanding audio signal processing concepts, retrieving information from technical documents, </a:t>
            </a:r>
            <a:r>
              <a:rPr lang="en-IN" dirty="0" err="1"/>
              <a:t>analyzing</a:t>
            </a:r>
            <a:r>
              <a:rPr lang="en-IN" dirty="0"/>
              <a:t> circuit problems, and recommending design improvements. These agents work together as a multi-agent system to deliver reliable and context-aware responses.
The system can identify common issues like noise, distortion, grounding problems, and signal attenuation, then suggest step-by-step solutions. It also recommends suitable amplifiers, filters, and signal conditioning techniques based on user requirements.
Additionally, </a:t>
            </a:r>
            <a:r>
              <a:rPr lang="en-IN" dirty="0" err="1"/>
              <a:t>Agentic</a:t>
            </a:r>
            <a:r>
              <a:rPr lang="en-IN" dirty="0"/>
              <a:t> AI continuously adapts to user queries by retrieving updated information through RAG (Retrieval-Augmented Generation), ensuring accurate and trustworthy responses.
Overall, </a:t>
            </a:r>
            <a:r>
              <a:rPr lang="en-IN" dirty="0" err="1"/>
              <a:t>Agentic</a:t>
            </a:r>
            <a:r>
              <a:rPr lang="en-IN" dirty="0"/>
              <a:t> AI makes the system intelligent, interactive, and efficient, acting as a smart technical assistant that helps students and engineers understand, troubleshoot, and improve audio signal processing systems.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1240589" y="1294063"/>
            <a:ext cx="10696128" cy="3754874"/>
          </a:xfrm>
          <a:prstGeom prst="rect">
            <a:avLst/>
          </a:prstGeom>
          <a:noFill/>
        </p:spPr>
        <p:txBody>
          <a:bodyPr wrap="square" rtlCol="0">
            <a:spAutoFit/>
          </a:bodyPr>
          <a:lstStyle/>
          <a:p>
            <a:r>
              <a:rPr lang="en-IN" dirty="0"/>
              <a:t>The proposed Audio Signal Processing Assistant Agent stands out by combining </a:t>
            </a:r>
            <a:r>
              <a:rPr lang="en-IN" dirty="0" err="1"/>
              <a:t>Agentic</a:t>
            </a:r>
            <a:r>
              <a:rPr lang="en-IN" dirty="0"/>
              <a:t> AI, Retrieval-Augmented Generation (RAG), and intelligent troubleshooting into a single smart assistant for audio signal processing.
Multi-Agent Intelligence – Multiple AI agents collaborate to understand user queries, retrieve technical information, </a:t>
            </a:r>
            <a:r>
              <a:rPr lang="en-IN" dirty="0" err="1"/>
              <a:t>analyze</a:t>
            </a:r>
            <a:r>
              <a:rPr lang="en-IN" dirty="0"/>
              <a:t> circuit issues, and provide accurate solutions.
RAG-Based Knowledge Retrieval – Retrieves real-time information from electronics textbooks, audio signal processing documents, and technical manuals to generate reliable and context-aware responses.
Intelligent Circuit Troubleshooting – Detects common issues such as noise, distortion, grounding problems, and signal attenuation, then suggests step-by-step solutions.
Design Recommendation System – Provides recommendations for amplifiers, filters, preamplifiers, and signal conditioning circuits to improve performance.
Real-Time Technical Guidance – Delivers instant explanations, troubleshooting support, and design suggestions through a conversational AI interface.
Scalable &amp; Enterprise-Ready – Built on IBM </a:t>
            </a:r>
            <a:r>
              <a:rPr lang="en-IN" dirty="0" err="1"/>
              <a:t>watsonx.ai</a:t>
            </a:r>
            <a:r>
              <a:rPr lang="en-IN" dirty="0"/>
              <a:t>, IBM Granite Models, and </a:t>
            </a:r>
            <a:r>
              <a:rPr lang="en-IN" dirty="0" err="1"/>
              <a:t>LangFlow</a:t>
            </a:r>
            <a:r>
              <a:rPr lang="en-IN" dirty="0"/>
              <a:t>, ensuring security, scalability, and reliable AI-powered assistance.
This makes the solution an intelligent, context-aware, and proactive Audio Signal Processing Assistant rather than a simple </a:t>
            </a:r>
            <a:r>
              <a:rPr lang="en-IN" dirty="0" err="1"/>
              <a:t>chatbot</a:t>
            </a:r>
            <a:r>
              <a:rPr lang="en-IN" dirty="0"/>
              <a:t> or static knowledge system.</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a:solidFill>
                  <a:srgbClr val="000000"/>
                </a:solidFill>
                <a:latin typeface="Times New Roman"/>
                <a:ea typeface="Times New Roman"/>
                <a:cs typeface="Times New Roman"/>
                <a:sym typeface="Times New Roman"/>
              </a:rPr>
              <a:t>Link:</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r>
              <a:rPr lang="en-IN" sz="1850" b="0" i="0" u="none" strike="noStrike" cap="none" dirty="0">
                <a:solidFill>
                  <a:srgbClr val="2B3541"/>
                </a:solidFill>
                <a:latin typeface="Times New Roman"/>
                <a:ea typeface="Times New Roman"/>
                <a:cs typeface="Times New Roman"/>
                <a:sym typeface="Times New Roman"/>
              </a:rPr>
              <a:t>https://github.com/samruddhibhale-alt/Audio-Signal-Processing-Assistant-Agent/upload</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4746"/>
            <a:ext cx="10951410" cy="666129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a:solidFill>
                  <a:srgbClr val="000000"/>
                </a:solidFill>
                <a:latin typeface="Times New Roman"/>
                <a:ea typeface="Times New Roman"/>
                <a:cs typeface="Times New Roman"/>
                <a:sym typeface="Times New Roman"/>
              </a:rPr>
              <a:t>1. AI-Based Voice Assistant Integration
The system can be enhanced with a voice-enabled assistant, allowing users to ask questions and receive troubleshooting guidance through voice commands. This will improve accessibility and provide a hands-free user experience.
2. Real-Time Audio Analysis &amp; </a:t>
            </a:r>
            <a:r>
              <a:rPr lang="en-IN" sz="1850" b="0" i="0" u="none" strike="noStrike" cap="none" dirty="0" err="1">
                <a:solidFill>
                  <a:srgbClr val="000000"/>
                </a:solidFill>
                <a:latin typeface="Times New Roman"/>
                <a:ea typeface="Times New Roman"/>
                <a:cs typeface="Times New Roman"/>
                <a:sym typeface="Times New Roman"/>
              </a:rPr>
              <a:t>IoT</a:t>
            </a:r>
            <a:r>
              <a:rPr lang="en-IN" sz="1850" b="0" i="0" u="none" strike="noStrike" cap="none" dirty="0">
                <a:solidFill>
                  <a:srgbClr val="000000"/>
                </a:solidFill>
                <a:latin typeface="Times New Roman"/>
                <a:ea typeface="Times New Roman"/>
                <a:cs typeface="Times New Roman"/>
                <a:sym typeface="Times New Roman"/>
              </a:rPr>
              <a:t> Integration
In the future, the assistant can be integrated with </a:t>
            </a:r>
            <a:r>
              <a:rPr lang="en-IN" sz="1850" b="0" i="0" u="none" strike="noStrike" cap="none" dirty="0" err="1">
                <a:solidFill>
                  <a:srgbClr val="000000"/>
                </a:solidFill>
                <a:latin typeface="Times New Roman"/>
                <a:ea typeface="Times New Roman"/>
                <a:cs typeface="Times New Roman"/>
                <a:sym typeface="Times New Roman"/>
              </a:rPr>
              <a:t>IoT</a:t>
            </a:r>
            <a:r>
              <a:rPr lang="en-IN" sz="1850" b="0" i="0" u="none" strike="noStrike" cap="none" dirty="0">
                <a:solidFill>
                  <a:srgbClr val="000000"/>
                </a:solidFill>
                <a:latin typeface="Times New Roman"/>
                <a:ea typeface="Times New Roman"/>
                <a:cs typeface="Times New Roman"/>
                <a:sym typeface="Times New Roman"/>
              </a:rPr>
              <a:t>-based audio devices and sensors to </a:t>
            </a:r>
            <a:r>
              <a:rPr lang="en-IN" sz="1850" b="0" i="0" u="none" strike="noStrike" cap="none" dirty="0" err="1">
                <a:solidFill>
                  <a:srgbClr val="000000"/>
                </a:solidFill>
                <a:latin typeface="Times New Roman"/>
                <a:ea typeface="Times New Roman"/>
                <a:cs typeface="Times New Roman"/>
                <a:sym typeface="Times New Roman"/>
              </a:rPr>
              <a:t>analyze</a:t>
            </a:r>
            <a:r>
              <a:rPr lang="en-IN" sz="1850" b="0" i="0" u="none" strike="noStrike" cap="none" dirty="0">
                <a:solidFill>
                  <a:srgbClr val="000000"/>
                </a:solidFill>
                <a:latin typeface="Times New Roman"/>
                <a:ea typeface="Times New Roman"/>
                <a:cs typeface="Times New Roman"/>
                <a:sym typeface="Times New Roman"/>
              </a:rPr>
              <a:t> live audio signals, detect faults automatically, and provide instant recommendations for improving audio quality and circuit performance.
3. Advanced Circuit Simulation Support
The system can be connected with circuit simulation tools to test amplifier and filter designs, </a:t>
            </a:r>
            <a:r>
              <a:rPr lang="en-IN" sz="1850" b="0" i="0" u="none" strike="noStrike" cap="none" dirty="0" err="1">
                <a:solidFill>
                  <a:srgbClr val="000000"/>
                </a:solidFill>
                <a:latin typeface="Times New Roman"/>
                <a:ea typeface="Times New Roman"/>
                <a:cs typeface="Times New Roman"/>
                <a:sym typeface="Times New Roman"/>
              </a:rPr>
              <a:t>analyze</a:t>
            </a:r>
            <a:r>
              <a:rPr lang="en-IN" sz="1850" b="0" i="0" u="none" strike="noStrike" cap="none" dirty="0">
                <a:solidFill>
                  <a:srgbClr val="000000"/>
                </a:solidFill>
                <a:latin typeface="Times New Roman"/>
                <a:ea typeface="Times New Roman"/>
                <a:cs typeface="Times New Roman"/>
                <a:sym typeface="Times New Roman"/>
              </a:rPr>
              <a:t> signal </a:t>
            </a:r>
            <a:r>
              <a:rPr lang="en-IN" sz="1850" b="0" i="0" u="none" strike="noStrike" cap="none" dirty="0" err="1">
                <a:solidFill>
                  <a:srgbClr val="000000"/>
                </a:solidFill>
                <a:latin typeface="Times New Roman"/>
                <a:ea typeface="Times New Roman"/>
                <a:cs typeface="Times New Roman"/>
                <a:sym typeface="Times New Roman"/>
              </a:rPr>
              <a:t>behavior</a:t>
            </a:r>
            <a:r>
              <a:rPr lang="en-IN" sz="1850" b="0" i="0" u="none" strike="noStrike" cap="none" dirty="0">
                <a:solidFill>
                  <a:srgbClr val="000000"/>
                </a:solidFill>
                <a:latin typeface="Times New Roman"/>
                <a:ea typeface="Times New Roman"/>
                <a:cs typeface="Times New Roman"/>
                <a:sym typeface="Times New Roman"/>
              </a:rPr>
              <a:t>, and suggest optimizations before hardware implementation.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2" name="Picture 1">
            <a:extLst>
              <a:ext uri="{FF2B5EF4-FFF2-40B4-BE49-F238E27FC236}">
                <a16:creationId xmlns:a16="http://schemas.microsoft.com/office/drawing/2014/main" id="{5BDA5DB4-7862-CD35-2BAA-0BDAAA3D1C2C}"/>
              </a:ext>
            </a:extLst>
          </p:cNvPr>
          <p:cNvPicPr>
            <a:picLocks noChangeAspect="1"/>
          </p:cNvPicPr>
          <p:nvPr/>
        </p:nvPicPr>
        <p:blipFill>
          <a:blip r:embed="rId2"/>
          <a:stretch>
            <a:fillRect/>
          </a:stretch>
        </p:blipFill>
        <p:spPr>
          <a:xfrm>
            <a:off x="552048" y="1858152"/>
            <a:ext cx="4734647" cy="3978443"/>
          </a:xfrm>
          <a:prstGeom prst="rect">
            <a:avLst/>
          </a:prstGeom>
        </p:spPr>
      </p:pic>
      <p:pic>
        <p:nvPicPr>
          <p:cNvPr id="5" name="Picture 4">
            <a:extLst>
              <a:ext uri="{FF2B5EF4-FFF2-40B4-BE49-F238E27FC236}">
                <a16:creationId xmlns:a16="http://schemas.microsoft.com/office/drawing/2014/main" id="{FE2E29B2-6FF8-A7F5-B253-AE7E4A57893F}"/>
              </a:ext>
            </a:extLst>
          </p:cNvPr>
          <p:cNvPicPr>
            <a:picLocks noChangeAspect="1"/>
          </p:cNvPicPr>
          <p:nvPr/>
        </p:nvPicPr>
        <p:blipFill>
          <a:blip r:embed="rId3"/>
          <a:stretch>
            <a:fillRect/>
          </a:stretch>
        </p:blipFill>
        <p:spPr>
          <a:xfrm>
            <a:off x="6134777" y="1967009"/>
            <a:ext cx="4857697" cy="397844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2" name="Picture 1">
            <a:extLst>
              <a:ext uri="{FF2B5EF4-FFF2-40B4-BE49-F238E27FC236}">
                <a16:creationId xmlns:a16="http://schemas.microsoft.com/office/drawing/2014/main" id="{B1EA4F42-22C8-9E84-BC15-58B9C69EB6C5}"/>
              </a:ext>
            </a:extLst>
          </p:cNvPr>
          <p:cNvPicPr>
            <a:picLocks noChangeAspect="1"/>
          </p:cNvPicPr>
          <p:nvPr/>
        </p:nvPicPr>
        <p:blipFill>
          <a:blip r:embed="rId2"/>
          <a:stretch>
            <a:fillRect/>
          </a:stretch>
        </p:blipFill>
        <p:spPr>
          <a:xfrm>
            <a:off x="2032000" y="1401109"/>
            <a:ext cx="8128000" cy="531776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12</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samruddhibhale@gmail.com</cp:lastModifiedBy>
  <cp:revision>16</cp:revision>
  <dcterms:created xsi:type="dcterms:W3CDTF">2025-07-08T05:06:56Z</dcterms:created>
  <dcterms:modified xsi:type="dcterms:W3CDTF">2026-07-15T10:34:42Z</dcterms:modified>
</cp:coreProperties>
</file>